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e7671932354b07" /><Relationship Type="http://schemas.openxmlformats.org/officeDocument/2006/relationships/extended-properties" Target="/docProps/app.xml" Id="R4ba1045ed3384917" /><Relationship Type="http://schemas.openxmlformats.org/officeDocument/2006/relationships/officeDocument" Target="/ppt/presentation.xml" Id="Ra0b5e887843e4a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c5a43490684b8d"/>
  </p:sldMasterIdLst>
  <p:notesMasterIdLst>
    <p:notesMasterId xmlns:r="http://schemas.openxmlformats.org/officeDocument/2006/relationships" r:id="Rcfe07edf4e644c5c"/>
  </p:notesMasterIdLst>
  <p:sldIdLst>
    <p:sldId xmlns:r="http://schemas.openxmlformats.org/officeDocument/2006/relationships" id="256" r:id="R0af56d3f8b144b42"/>
    <p:sldId xmlns:r="http://schemas.openxmlformats.org/officeDocument/2006/relationships" id="257" r:id="Rb48b7e1d954847ba"/>
    <p:sldId xmlns:r="http://schemas.openxmlformats.org/officeDocument/2006/relationships" id="258" r:id="R2a85a8b30cd547b2"/>
    <p:sldId xmlns:r="http://schemas.openxmlformats.org/officeDocument/2006/relationships" id="259" r:id="Rfc6afb509a2f4912"/>
    <p:sldId xmlns:r="http://schemas.openxmlformats.org/officeDocument/2006/relationships" id="260" r:id="R04b7d465897d4f75"/>
    <p:sldId xmlns:r="http://schemas.openxmlformats.org/officeDocument/2006/relationships" id="261" r:id="Rdfe1420fe36d4fd0"/>
    <p:sldId xmlns:r="http://schemas.openxmlformats.org/officeDocument/2006/relationships" id="262" r:id="R074b0c55f54a49d0"/>
    <p:sldId xmlns:r="http://schemas.openxmlformats.org/officeDocument/2006/relationships" id="263" r:id="R8a3773f646a8461c"/>
    <p:sldId xmlns:r="http://schemas.openxmlformats.org/officeDocument/2006/relationships" id="264" r:id="R17427a400ad44977"/>
    <p:sldId xmlns:r="http://schemas.openxmlformats.org/officeDocument/2006/relationships" id="265" r:id="R4265601b2e8f43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9029e10e8f4de7" /><Relationship Type="http://schemas.openxmlformats.org/officeDocument/2006/relationships/slideMaster" Target="/ppt/slideMasters/slideMaster1.xml" Id="R15c5a43490684b8d" /><Relationship Type="http://schemas.openxmlformats.org/officeDocument/2006/relationships/notesMaster" Target="/ppt/notesMasters/notesMaster1.xml" Id="Rcfe07edf4e644c5c" /><Relationship Type="http://schemas.openxmlformats.org/officeDocument/2006/relationships/presProps" Target="/ppt/presProps.xml" Id="R0188058ccca34f1d" /><Relationship Type="http://schemas.openxmlformats.org/officeDocument/2006/relationships/tableStyles" Target="/ppt/tableStyles.xml" Id="R9e6bb466baf64ca0" /><Relationship Type="http://schemas.openxmlformats.org/officeDocument/2006/relationships/slide" Target="/ppt/slides/slide1.xml" Id="R0af56d3f8b144b42" /><Relationship Type="http://schemas.openxmlformats.org/officeDocument/2006/relationships/slide" Target="/ppt/slides/slide2.xml" Id="Rb48b7e1d954847ba" /><Relationship Type="http://schemas.openxmlformats.org/officeDocument/2006/relationships/slide" Target="/ppt/slides/slide3.xml" Id="R2a85a8b30cd547b2" /><Relationship Type="http://schemas.openxmlformats.org/officeDocument/2006/relationships/slide" Target="/ppt/slides/slide4.xml" Id="Rfc6afb509a2f4912" /><Relationship Type="http://schemas.openxmlformats.org/officeDocument/2006/relationships/slide" Target="/ppt/slides/slide5.xml" Id="R04b7d465897d4f75" /><Relationship Type="http://schemas.openxmlformats.org/officeDocument/2006/relationships/slide" Target="/ppt/slides/slide6.xml" Id="Rdfe1420fe36d4fd0" /><Relationship Type="http://schemas.openxmlformats.org/officeDocument/2006/relationships/slide" Target="/ppt/slides/slide7.xml" Id="R074b0c55f54a49d0" /><Relationship Type="http://schemas.openxmlformats.org/officeDocument/2006/relationships/slide" Target="/ppt/slides/slide8.xml" Id="R8a3773f646a8461c" /><Relationship Type="http://schemas.openxmlformats.org/officeDocument/2006/relationships/slide" Target="/ppt/slides/slide9.xml" Id="R17427a400ad44977" /><Relationship Type="http://schemas.openxmlformats.org/officeDocument/2006/relationships/slide" Target="/ppt/slides/slide10.xml" Id="R4265601b2e8f43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e027d1bc8244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38d6beffa34d42" /><Relationship Type="http://schemas.openxmlformats.org/officeDocument/2006/relationships/notesMaster" Target="/ppt/notesMasters/notesMaster1.xml" Id="R0c2bd5d8a99a46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ce1e0e1c784cdc" /><Relationship Type="http://schemas.openxmlformats.org/officeDocument/2006/relationships/notesMaster" Target="/ppt/notesMasters/notesMaster1.xml" Id="Rf96381d7f43b42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20a3a224c2445e" /><Relationship Type="http://schemas.openxmlformats.org/officeDocument/2006/relationships/notesMaster" Target="/ppt/notesMasters/notesMaster1.xml" Id="Rfede3a80ca1c46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a4db407479433d" /><Relationship Type="http://schemas.openxmlformats.org/officeDocument/2006/relationships/notesMaster" Target="/ppt/notesMasters/notesMaster1.xml" Id="R924ef6e6139c42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a47f7fa165474c" /><Relationship Type="http://schemas.openxmlformats.org/officeDocument/2006/relationships/notesMaster" Target="/ppt/notesMasters/notesMaster1.xml" Id="R5555db9d3d8e4b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702c0bb6dd4538" /><Relationship Type="http://schemas.openxmlformats.org/officeDocument/2006/relationships/notesMaster" Target="/ppt/notesMasters/notesMaster1.xml" Id="Reb5f6f5b70a441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18dde88892431f" /><Relationship Type="http://schemas.openxmlformats.org/officeDocument/2006/relationships/notesMaster" Target="/ppt/notesMasters/notesMaster1.xml" Id="R09fcfaca3b0c49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6ec9ac922f40d6" /><Relationship Type="http://schemas.openxmlformats.org/officeDocument/2006/relationships/notesMaster" Target="/ppt/notesMasters/notesMaster1.xml" Id="Rbd5d8fcd51364a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c929ceeda44bb2" /><Relationship Type="http://schemas.openxmlformats.org/officeDocument/2006/relationships/notesMaster" Target="/ppt/notesMasters/notesMaster1.xml" Id="R141f8b9f9ae341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d3fbc2cdfe4a10" /><Relationship Type="http://schemas.openxmlformats.org/officeDocument/2006/relationships/notesMaster" Target="/ppt/notesMasters/notesMaster1.xml" Id="Rd26593edafdb49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开场建议：这个项目研究的不是让大模型自由生成界面，而是如何把模型理解能力接入一个可验证的 UI 编译链路。封面右侧就是贯穿案例的最终卡片。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这一页先建立问题。小尺寸卡片的风险不是单纯不好看，而是事实、交互能力和最终布局都会出错。项目用分阶段验证来控制这些风险。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完整口径：自然语言先进入模型或本地提取器，得到 SemanticDocument 2.0。规则层只消费语义结构与宿主 context，生成 Element DSL。DSL 不带坐标，由布局与视觉引擎搜索候选。最后通过 Delivery Gate 才渲染。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导师若问为什么不让模型直接输出 DSL，可以回答：模型适合做开放语义理解，但动作能力、资源真实性和布局约束需要确定性验证。分工后能够定位错误究竟来自理解、决策还是渲染。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这里强调 SemanticDocument 的价值。它没有把“不要清理内存”压缩成模糊的 none，而是明确保存 requests 为空、forbiddenIntents 包含 cleanMemory。规则不再需要重新理解自然语言。案例数据来自 local-v2-calibration-r4 的 cal-03 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完整输出是 ready，但 ready 不是只表示规则选完组件。这里 DSL 合法、布局 solved、质量 passed 三个条件都成立，所以 deliveryStatus 是 deliverable。最终只有标题和 miniProgress，没有按钮，也没有未经验证的应用图标。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这一页用四个已复现的问题说明系统不是只追求出卡率。事实有矛盾或量程异常时需要澄清，必要内容无法在 2×2 卡片无损表示时返回 unsupported，非卡片任务返回 no_card。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评测拆成三层，是为了回答三个不同问题：模型有没有理解对，规则有没有决策对，最终有没有交付对。端到端额外统计 incorrectCards，防止系统靠大量出卡制造表面高覆盖率，也防止靠全部拒绝制造低错误率。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这里要明确区分本地校准结果和 Qwen 泛化结果。45 项自动测试已经通过。local-v2-calibration-r4 中语义理解 12/12、规则决策 12/12、8 个支持样本全部正确出卡、4 个非 ready 都合理、错误出卡 0/12。但这些不能当作 Qwen 成绩。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收尾建议直接说这一句话。限制也要主动说明：独立数据只相对开发校准独立，并非外部双盲；云端 Qwen 结果不能直接代表端侧量化性能；宿主资源验证仍属于宿主提供的证明。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fb69170f845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cfd4a209264464" /><Relationship Type="http://schemas.openxmlformats.org/officeDocument/2006/relationships/slideLayout" Target="/ppt/slideLayouts/slideLayout1.xml" Id="Re6b21d57bf3d44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b21d57bf3d44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d6a1b175d4045" /><Relationship Type="http://schemas.openxmlformats.org/officeDocument/2006/relationships/notesSlide" Target="/ppt/notesSlides/notesSlide1.xml" Id="R1f8373bf55f647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e3047e3104e3e" /><Relationship Type="http://schemas.openxmlformats.org/officeDocument/2006/relationships/notesSlide" Target="/ppt/notesSlides/notesSlide2.xml" Id="R08cc1f1000664e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b064c796549c3" /><Relationship Type="http://schemas.openxmlformats.org/officeDocument/2006/relationships/notesSlide" Target="/ppt/notesSlides/notesSlide3.xml" Id="Rc8614be7699b4b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ceda9e887418d" /><Relationship Type="http://schemas.openxmlformats.org/officeDocument/2006/relationships/notesSlide" Target="/ppt/notesSlides/notesSlide4.xml" Id="Reeb1362c46cd48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756d6b4ea4561" /><Relationship Type="http://schemas.openxmlformats.org/officeDocument/2006/relationships/notesSlide" Target="/ppt/notesSlides/notesSlide5.xml" Id="R8efa316040734a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93c732f794c7b" /><Relationship Type="http://schemas.openxmlformats.org/officeDocument/2006/relationships/notesSlide" Target="/ppt/notesSlides/notesSlide6.xml" Id="Rbfcf60008ebd44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5ab0534d74a52" /><Relationship Type="http://schemas.openxmlformats.org/officeDocument/2006/relationships/notesSlide" Target="/ppt/notesSlides/notesSlide7.xml" Id="R9170955b1b204a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234a8cf634bb1" /><Relationship Type="http://schemas.openxmlformats.org/officeDocument/2006/relationships/notesSlide" Target="/ppt/notesSlides/notesSlide8.xml" Id="Rad449e41dc0a4b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dac23d188495e" /><Relationship Type="http://schemas.openxmlformats.org/officeDocument/2006/relationships/notesSlide" Target="/ppt/notesSlides/notesSlide9.xml" Id="R450f8f5a369245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0b2ec317c4c2f" /><Relationship Type="http://schemas.openxmlformats.org/officeDocument/2006/relationships/notesSlide" Target="/ppt/notesSlides/notesSlide10.xml" Id="Rfa2c6f207dc445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B44D82-3ADC-48F8-A306-65D86230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9AA3E-6FB9-48F3-AAE0-32FBDEC1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生成式 UI 的可验证方法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55E83-7D6D-408C-8905-F6A40E42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6D4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C6D4E6"/>
                </a:solidFill>
                <a:latin typeface="Microsoft YaHei"/>
                <a:ea typeface="Microsoft YaHei"/>
                <a:cs typeface="Microsoft YaHei"/>
              </a:rPr>
              <a:t>从自然语言到可交付 2×2 卡片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D9E66-432B-446C-A539-B78C4302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5A9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95A9C1"/>
                </a:solidFill>
                <a:latin typeface="Microsoft YaHei"/>
                <a:ea typeface="Microsoft YaHei"/>
                <a:cs typeface="Microsoft YaHei"/>
              </a:rPr>
              <a:t>模型理解语义，规则做产品决策，约束引擎保证交付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F262F-FF3C-4C49-8E6F-43680294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2305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7921C-3C8E-4D85-8859-728FA97A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rPr>
              <a:t>导师汇报版 · 2026-09-08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139C3-AEDC-471B-8C49-7B508024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143000"/>
            <a:ext cx="2571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43252"/>
          </a:solidFill>
          <a:ln xmlns:a="http://schemas.openxmlformats.org/drawingml/2006/main" w="19050">
            <a:solidFill>
              <a:srgbClr val="2B587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66444-3663-4040-826D-2EE8C77C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466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手机电量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0F3F7-4AD7-44AA-A4DD-46094D6D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002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22559-E220-4A08-BA27-AC939EBC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955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C1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9C1D7"/>
                </a:solidFill>
                <a:latin typeface="Microsoft YaHei"/>
                <a:ea typeface="Microsoft YaHei"/>
                <a:cs typeface="Microsoft YaHei"/>
              </a:rPr>
              <a:t>剩余电量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3220D-78FC-4D2C-9430-F1B6B187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143250"/>
            <a:ext cx="1809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556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E9225-0934-497C-8F44-2CE8259A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143250"/>
            <a:ext cx="3238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1CB7D-1060-44C2-93BD-D4D370F0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3909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3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FD3E3"/>
                </a:solidFill>
                <a:latin typeface="Microsoft YaHei"/>
                <a:ea typeface="Microsoft YaHei"/>
                <a:cs typeface="Microsoft YaHei"/>
              </a:rPr>
              <a:t>无按钮 · 无虚构图标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AD6F73-1CE1-4383-AD05-14CB71B8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767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rPr>
              <a:t>语义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967DF-F803-4B6A-81ED-6684A3B6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505325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556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4427E-68CE-4408-8E2A-AE0EACCA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767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7E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7E85B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0267F-1991-4D65-AF77-8C29BD61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05325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556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DB04B9-F9FD-4C47-B1A5-C738E5DC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767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B35C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76931D-C29E-49EF-9271-36451E28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0062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rPr>
              <a:t>核心案例贯穿整套方法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F5B806-D38E-497D-81F7-484DB55C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rPr>
              <a:t>2×2 Card DSL Lab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E5B4F-F85B-404B-85F0-074318D7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488707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46A7DD-DE8F-47F6-B486-52EB4620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3E6EA-231F-4B5D-9C48-2A651B61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任意自然语言怎样稳定地变成一张小尺寸卡片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BBA20-CB9F-4611-B9D4-AD51695E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0C4F8-515A-408A-B066-621E18F2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直接让模型输出 UI，容易出现三类问题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FA23B-5772-48A8-8C8D-1A396317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857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DE8E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CE67F-38AC-4259-A08C-5DAB32DF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A6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6CC07-9077-4717-AB9F-1FD77586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526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事实被改写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34A52-59A7-433F-A13E-87DB7DF3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负号丢失、纠正关系误判、单位混淆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AFF0B-A667-4702-9197-8B916FFF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4857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07C0B-AB3B-4EFB-A5D5-AB1A4085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35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3012A-909B-4FD2-9C14-2D57274B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能力被虚构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EE85F-B7B4-4427-BC81-9559E513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4807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生成宿主没有注册的按钮、事件或图标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FAE9D-9657-414D-8080-F9093769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4857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EAF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BBFA7-C442-448E-BE8C-9F3EDEAB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7CF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AB2FC8-424E-4955-8A42-7EA0D479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5292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布局不可交付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BEEAA-2DD3-45BD-8EE1-3395D113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文字截断、元素越界、触控区域不足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4114AD-3F4A-46F2-907D-4C468DD1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90700"/>
            <a:ext cx="504825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91BB28-7C29-48F2-9071-C94D6E4A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526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项目的回答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D2F5CA-2CD3-47AB-843D-43E75158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241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rPr>
              <a:t>把生成过程拆成可检查的阶段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E06981-76BA-42EB-A6C6-7E3C1416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718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模型只提取结构化语义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3886A0-8689-495B-B1C6-4B9072FA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29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规则结合宿主能力选择组件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F7B10D-A1C4-4476-8AD2-2ACC4A91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862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DSL、布局与质量门禁决定能否交付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C65552-AC39-4652-BD37-6D9A178C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334000"/>
            <a:ext cx="3333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DEA6DB-EE96-4264-A788-D1E44FF0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53050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rPr>
              <a:t>目标：正确出卡，也正确拒绝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0C2E1A-0581-4545-B756-4616807F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2×2 Card DSL Lab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B21D51-BD42-4F99-966E-D7B90504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43264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A232F9-D238-41B4-A629-16004611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完整方法链路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FE855-C290-4674-9907-AD55E40C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每个阶段只处理一种问题，并把结果交给下一阶段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3284F4-F859-496B-8DF8-B327528F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F83AF-2A52-4F62-8921-4D0F549E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6573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15D76-8718-49D3-871D-7E102F92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657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E4F40-AA41-4108-9849-11DC65A9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764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自然语言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EED54-A2D4-4236-88EC-E966AC6D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135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用户内容与要求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3AE7A-53EB-4917-96EC-A725B0C1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3717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8B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CBAF7-8499-4232-8B4C-40508424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28800"/>
            <a:ext cx="19621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FF7FA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A720C-3791-4AD9-A4D9-C12F0459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28800"/>
            <a:ext cx="19621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CA71C-E23B-4296-9B77-B7F0C94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07645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SemanticDocument 2.0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D4399-9A73-457B-9CD5-CEFD3370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43175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事实、单位、主次</a:t>
            </a:r>
          </a:p>
          <a:p xmlns:a="http://schemas.openxmlformats.org/drawingml/2006/main">
            <a:pPr algn="ctr">
              <a:def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否定、纠正、动作语义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50B0D-F1B5-4D2D-B289-5FF42E68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717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8B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8DB6E-9F14-4213-8F34-1193718F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28800"/>
            <a:ext cx="18669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CF9DC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71CA0B-0954-4885-8FF0-AE695734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28800"/>
            <a:ext cx="18669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3D5FDE-DE87-45CA-AF74-B475EC32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0764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规则决策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564A0-2654-471B-A04A-B9024EF6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43175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组件选择与四态</a:t>
            </a:r>
          </a:p>
          <a:p xmlns:a="http://schemas.openxmlformats.org/drawingml/2006/main">
            <a:pPr algn="ctr">
              <a:def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不读取原始自然语言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662E4D-7C78-472D-A424-8FEBC9D1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3717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8B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70756-1837-4B83-98FB-D930433A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28800"/>
            <a:ext cx="18669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A499EC-DA9E-4521-9FE7-3D0C3A5E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28800"/>
            <a:ext cx="18669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7CF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592D7B-5561-4B76-A6DC-77CE0ACE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0764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Element DSL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2BB75E-18F4-4D77-A6C2-308E7DD1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43175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只描述元素</a:t>
            </a:r>
          </a:p>
          <a:p xmlns:a="http://schemas.openxmlformats.org/drawingml/2006/main">
            <a:pPr algn="ctr">
              <a:def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不包含坐标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A840DE-E07A-4523-ADFF-AC59F4F7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3717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8B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862F3E-3064-4D45-BD78-621C2298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28800"/>
            <a:ext cx="18669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EEAFD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387806-BB06-403E-8B40-0889276A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28800"/>
            <a:ext cx="18669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7CF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F64C8C-2484-4DA8-A872-57E6F437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0764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布局与视觉求解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770A64-AF9E-4CB3-A77D-0B4D6CF8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43175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候选搜索、测量</a:t>
            </a:r>
          </a:p>
          <a:p xmlns:a="http://schemas.openxmlformats.org/drawingml/2006/main">
            <a:pPr algn="ctr">
              <a:def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语义配色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D9A245-7112-4A24-9643-E1420615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43350"/>
            <a:ext cx="67056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D5D42F-5E53-4F1D-A2C9-7D098FCE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10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Delivery Gate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B702A8-791E-420F-B76F-584B0248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625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rPr>
              <a:t>DSL 合法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35AF80-93B2-4793-8200-AC440CCB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62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7E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7E85B"/>
                </a:solidFill>
                <a:latin typeface="Microsoft YaHei"/>
                <a:ea typeface="Microsoft YaHei"/>
                <a:cs typeface="Microsoft YaHei"/>
              </a:rPr>
              <a:t>布局 solved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5E4F99-7424-4549-A631-A19325EE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62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B35C"/>
                </a:solidFill>
                <a:latin typeface="Microsoft YaHei"/>
                <a:ea typeface="Microsoft YaHei"/>
                <a:cs typeface="Microsoft YaHei"/>
              </a:rPr>
              <a:t>质量 passed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6AB960-21DF-4CAE-A6EC-23153887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1054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D0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0E3"/>
                </a:solidFill>
                <a:latin typeface="Microsoft YaHei"/>
                <a:ea typeface="Microsoft YaHei"/>
                <a:cs typeface="Microsoft YaHei"/>
              </a:rPr>
              <a:t>三个条件同时满足，ready 才真正代表可交付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3018F7-84B4-493F-9856-97678952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672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160×160vp 卡片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29F4EC-75D2-4354-8854-5445E945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291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35A7C9-91AC-4950-80BD-B7FD5078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14900"/>
            <a:ext cx="1466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FF7F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87C6D3-3599-41E0-8B84-C97DE1DC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9339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最终渲染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66E370-384A-483A-B91E-1A9E8CCC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2×2 Card DSL Lab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EF4FFF-2980-44DB-8DFB-065EAF79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372587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BAC06D-1243-47DC-AEF1-647C9184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模型、规则与宿主的分工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97FF5-EE8E-49E5-96FD-DD371A48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把概率性理解和确定性产品约束分开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C7017-ABE4-4B4F-AA88-8022D4E2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1260A-DF51-4525-B5BE-9B9550C7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3333750" cy="36766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FF7F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0944B-4996-4D12-B037-7ECA96C9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3333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E1EF8-2CC9-4F71-8379-745ECAC7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83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模型：理解用户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861FF-37B0-4361-9984-8887EF75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2EDE5-086A-4EF2-BE82-E78F564F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提取事实与单位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57C4D-9DFE-45CB-819A-0E396150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4FAD8-6538-4679-B006-20CD55B9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识别主次、否定与纠正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392DF-AB99-4EB5-8757-68AC39F6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99832-B959-4C03-B5A9-65A817B1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表达动作请求与展示偏好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E825A-9F46-49ED-B35B-19F1EA12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9582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6D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3BA89-1158-4D98-980B-E60DA1EC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不输出组件、事件名或坐标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CDCFCA-A36D-4022-845F-33596743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52600"/>
            <a:ext cx="3333750" cy="36766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CF9D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4D1AA0-3929-4BAF-89CC-D265E983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52600"/>
            <a:ext cx="3333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28D8FC-08A9-4747-95B1-0CEF653E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95500"/>
            <a:ext cx="283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规则：做产品决策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195C74-49C2-4882-B1F4-E486CF74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81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6BB410-DB5E-4D2A-8398-74A632A2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68605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按数据类型选择组件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6943EC-5765-4F69-BE57-EC954E0B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3909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F2BF1C-ADA1-4981-8E8F-64FBE852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29565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处理冲突、量程与必要信息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7F0D49-388A-4AC6-8229-6028354C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005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331F1E-0E6F-4143-AA42-6A125D5C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90525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输出四态结果与命中规则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9F2FB-9730-4EFD-924C-76DFC725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9582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6D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A8B560-A403-4469-B23C-61523D46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8768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不重新解析原始自然语言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BF9D12-3D34-48C1-B59D-58AA56F7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52600"/>
            <a:ext cx="3333750" cy="36766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2AAE1A-0A1E-4B93-88FE-C0DB34FF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52600"/>
            <a:ext cx="3333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35C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FE83CF-DD0B-4D2F-9DD9-93A9D10A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95500"/>
            <a:ext cx="283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宿主：证明能力存在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2E6AEA-1C2E-458C-8AF8-CD8F8D84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35C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B54BDB-A4E4-42E6-9B55-082B86F8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8605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提供已注册动作和事件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22408D-CF80-4C4A-9FC0-26D04563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909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35C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EDD3E7-545A-4C45-AECC-C03B3A08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9565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验证应用身份、图标和图片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654B5A-EDED-404F-B939-3CFDFA4B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35C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2E51A1-EAD8-420A-AE63-D314386C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0525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报告能力当前是否可用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FE3F24-3A7C-4207-B193-85931898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69582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6D1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633F89-E415-489A-80AC-348767D7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768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能力存在不等于用户要求显示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EBCD87-FAF8-4B37-9A7A-35AA1316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791200"/>
            <a:ext cx="849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rPr>
              <a:t>关键原则：可信的中间表示，让每一层都能单独测试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70C6DF-708C-4078-A71B-59EC9426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2×2 Card DSL Lab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DD2550-DF8C-4088-9DF3-472B2DDD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489085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39DF8F-97C9-48AD-93AF-4E42B89F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完整案例：语义提取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180B5-2A9B-4B80-98DF-B830227E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输入包含一个事实，以及对特定动作的否定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BA752-E0FD-4395-890C-76CFA52D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BAAF8-76A1-4B24-8A4D-99639D09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1066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24782-6753-4C4A-9148-BFBDC583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4AAC1-AF9B-4FB7-9A09-6EC52A1E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581150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“手机电量 18%，不要清理内存。”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CACC8-0B75-42B6-BF51-BD26A42C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0957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DE8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D07C4-9D3B-4C38-92FF-7BD9020D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F6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F6A6A"/>
                </a:solidFill>
                <a:latin typeface="Microsoft YaHei"/>
                <a:ea typeface="Microsoft YaHei"/>
                <a:cs typeface="Microsoft YaHei"/>
              </a:rPr>
              <a:t>旧路径可能犯的错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44E9D-637A-4E7F-AA07-AE3D571B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规则再次读原句，用关键词或正则猜含义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F4598-CC59-4102-8FCC-AED3875F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看到“内存”与已注册能力后，错误生成清理按钮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6A310-0E3F-4B6B-8AC5-641227B7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6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F6A6A"/>
                </a:solidFill>
                <a:latin typeface="Microsoft YaHei"/>
                <a:ea typeface="Microsoft YaHei"/>
                <a:cs typeface="Microsoft YaHei"/>
              </a:rPr>
              <a:t>模型贡献无法被单独验证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E7743-1B0B-4B70-B2DA-C6F2CB4F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19500"/>
            <a:ext cx="6286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0CD2B-1BF9-4209-B82B-816DFE1B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66950"/>
            <a:ext cx="57340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08B50-493E-4A1A-8EE3-2F7E02E9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rPr>
              <a:t>SemanticDocument 2.0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B7496-81B1-484E-B0E6-98093A14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43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task        card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59BC1C-96BD-4E76-BA79-E62A9107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05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domain      energy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2679B-3E38-4FE3-ADCA-DBDD1F95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671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fact        battery = 18%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A8F95-421A-4549-A31B-91B39265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29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role/status primary · current · asserted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D72847-BAC9-4429-8C79-49304048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91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requests    [ 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C55B3E-5E82-42A6-AF9E-AFF50C23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53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7E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A7E85B"/>
                </a:solidFill>
                <a:latin typeface="Microsoft YaHei"/>
                <a:ea typeface="Microsoft YaHei"/>
                <a:cs typeface="Microsoft YaHei"/>
              </a:rPr>
              <a:t>forbidden   [ cleanMemory 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ECA598-262A-4BD4-818E-8437FCB8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810250"/>
            <a:ext cx="2590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F9D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21AE4D-DC03-4641-B258-1D85340D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293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否定范围被明确保存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3F5F68-F60D-40B2-B7F9-B18B70D0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2×2 Card DSL Lab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78C8EB-EF3D-42D5-AABF-B2218C0D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34374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913B6E-289C-4BC7-B6DE-DE0C7164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完整案例：规则决策与交付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4DCBE-0957-4D54-B89A-FA0009D7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结构化语义进入规则后，得到可解释、可验证的结果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072F2-C2C4-44FA-A04A-65748009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31069-A87B-4BDC-805C-5EEA1F11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规则命中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76DA6-89E0-4A0E-9C41-8BE4B552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685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FF7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7EC61-BFD4-4CA6-8AC9-F403AF6A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21203-35A2-4263-82F0-BE7E60C0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1455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有界百分比选择 miniProgress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CF607-ABF9-449C-BBDF-1906E85F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685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C6091-C074-4B06-98B4-B7E05EE0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A03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C92D8-5A6C-4231-9F53-675729BA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4320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没有动作请求，默认不显示按钮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7D6F9-D583-4455-AB6D-525B73BE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685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FF7F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19F72-7BA2-421C-ABAF-0D12AED7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V01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E4FA0-2349-4A7B-9F72-3D286ADA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7185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显示短标题，帮助识别主题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4EAB7-9B61-4227-BD10-2251C176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685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FF7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8BD61-0802-487A-B465-6307908D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V02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4556E-86B6-431B-806F-056858FF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0050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主指标承担主要视觉层级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485813-4154-429A-BA36-21637BDF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省略记录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A906F7-24C9-451D-8989-9FF23A3A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4533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action：只有特定动作禁止，没有剩余动作请求</a:t>
            </a:r>
          </a:p>
          <a:p xmlns:a="http://schemas.openxmlformats.org/drawingml/2006/main">
            <a:pPr algn="l">
              <a:def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appIcon：宿主未证明应用资源可用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E65905-A08A-4EE3-AF30-00C9B5CE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95450"/>
            <a:ext cx="2724150" cy="40957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E0E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ABEBC4-5D3F-4285-8C52-C5D67704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621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Element DSL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A64FE0-73F8-482C-A5FB-3FDD09CB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14600"/>
            <a:ext cx="20955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text</a:t>
            </a:r>
          </a:p>
          <a:p xmlns:a="http://schemas.openxmlformats.org/drawingml/2006/main">
            <a:pPr algn="l">
              <a:def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  手机电量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miniProgress</a:t>
            </a:r>
          </a:p>
          <a:p xmlns:a="http://schemas.openxmlformats.org/drawingml/2006/main">
            <a:pPr algn="l">
              <a:def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  value: 18</a:t>
            </a:r>
          </a:p>
          <a:p xmlns:a="http://schemas.openxmlformats.org/drawingml/2006/main">
            <a:pPr algn="l">
              <a:def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  displayValue: 18%</a:t>
            </a:r>
          </a:p>
          <a:p xmlns:a="http://schemas.openxmlformats.org/drawingml/2006/main">
            <a:pPr algn="l">
              <a:def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  label: 剩余电量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9B4F2E-B04E-4D64-83FB-97EEA57B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24450"/>
            <a:ext cx="1676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592598-47AD-47E2-A18C-52E35BFE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43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C7C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C7CF0"/>
                </a:solidFill>
                <a:latin typeface="Microsoft YaHei"/>
                <a:ea typeface="Microsoft YaHei"/>
                <a:cs typeface="Microsoft YaHei"/>
              </a:rPr>
              <a:t>无坐标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F37AE7-47E9-448F-8222-5237973A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480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32B374-7709-4DF1-9541-C7B6AB77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66900"/>
            <a:ext cx="22669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143252"/>
          </a:solidFill>
          <a:ln xmlns:a="http://schemas.openxmlformats.org/drawingml/2006/main" w="19050">
            <a:solidFill>
              <a:srgbClr val="2B587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4C710C-61FE-454F-B20D-A85059A7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14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手机电量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9EB34D-9E82-46FF-8D87-D9C031F3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90800"/>
            <a:ext cx="161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18%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8F3284-B3E5-49E4-811E-9BA9215C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76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3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FD3E3"/>
                </a:solidFill>
                <a:latin typeface="Microsoft YaHei"/>
                <a:ea typeface="Microsoft YaHei"/>
                <a:cs typeface="Microsoft YaHei"/>
              </a:rPr>
              <a:t>剩余电量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A895E1-7D3F-4398-B7CD-8C93246C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76650"/>
            <a:ext cx="16764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556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2A7AEC-A49D-4653-879D-2141C0F0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76650"/>
            <a:ext cx="3048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4DE38A-85D1-4090-8373-37088AE1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481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D3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FD3E3"/>
                </a:solidFill>
                <a:latin typeface="Microsoft YaHei"/>
                <a:ea typeface="Microsoft YaHei"/>
                <a:cs typeface="Microsoft YaHei"/>
              </a:rPr>
              <a:t>没有清理按钮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95496F-DDC0-4D31-9AFA-5B4F9710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91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交付门禁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2A0436-1635-48C1-A18C-1D159352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10150"/>
            <a:ext cx="990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FF7F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6A2A66-CF96-4D70-9AD1-C94CD19E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29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DSL 合法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ED6B87-39A4-4321-B3B1-E45DE778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0150"/>
            <a:ext cx="1162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F9DC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21F6D3-3D6B-4CC6-9682-E6FC0A2C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02920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布局 solved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FD5879-FF0F-46F6-9A03-9DFF7523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483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339A1A-70F6-4E87-8C01-6C5FFDC0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4673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质量 passed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70A1AA-6DFD-4297-B5FD-764159B0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2×2 Card DSL Lab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E57274-D8F6-43DD-AECD-BAD8887C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405067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B16E1F-F1B6-4257-9C94-4FC58B3E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边界输入的处理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DD0A9-89E0-4E80-B9FC-C77B7601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系统需要避免错误出卡，也要在必要时停止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62191-FF86-496B-A112-BD50DF06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1C7BA-43C1-4181-952A-853182CC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C7D2C-52E0-4625-808B-08F3D14F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语义结果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703A5-7260-4DB8-910E-73AE5313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系统状态/组件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E9659-3ADA-4683-8B00-849FB30F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573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避免的错误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76723-29D4-4E45-BDE0-B4B894BB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7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4BD48-79DA-4EED-A21E-53E532D3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今天专注 25 分钟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E232A-1E90-4ACA-9553-A54C937E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717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duration = 25 分钟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91817-C629-4DBD-BFF0-8DC20A66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heroMetric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CAC0A-D85E-454D-8686-2324E3C3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002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不再误判为“评分 25 分”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C9BDE-C13C-4708-AC57-A79C5AE9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1101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CF9D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840BC-2090-416A-AC98-4F23A158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不是电量 18%，是内存占用 18%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15B0F0-3352-4C5E-8E2F-448A985D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623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旧事实 superseded</a:t>
            </a:r>
          </a:p>
          <a:p xmlns:a="http://schemas.openxmlformats.org/drawingml/2006/main">
            <a:pPr algn="l">
              <a:def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新事实 current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01049-569E-46A3-A033-17ECE3F8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miniProgress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205DC6-C471-49A3-A988-9690D2C8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只显示内存占用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A85A63-8927-4C00-A7E9-716B0AD2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1101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7BB1F3-D980-4F69-803C-AE5D0290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设备显示电量 −5%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7A21C7-0C74-4BBD-A55D-D8FEA0FC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529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负号原样保留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CF6DA5-2F89-4D66-A24E-12D1B572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910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needs_clarification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A118B1-6DE2-40CC-BA77-2B008E57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814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不把 −5% 截成 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D0DD86-8140-4257-90FA-0BC1A47C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1101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DE8E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40DC99-A961-4CE6-BBFE-DCC42F87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长通知末尾含“会议已取消”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23862F-6A52-49D9-91D1-A39DAE7C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1435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必要文字完整保留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C42644-8CB4-4167-B95C-F8520AA2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816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unsupported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B3CB5E-724B-4BC0-9462-52F3E1E3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720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不截断后伪装成 ready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5DC8BB-19E8-46D4-BFB1-E810B703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6115050"/>
            <a:ext cx="735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rPr>
              <a:t>四态：ready · needs_clarification · unsupported · no_card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E04FC0-A68F-4AF6-98B7-2B468DFC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2×2 Card DSL Lab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C0295E-4E13-4C6E-BB4E-C2AC367F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730199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DD523B-2422-41B6-ADB5-0374CE8B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分层评测方法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18EFF-96C8-49D8-A16E-40F5ACC6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模型理解、规则决策和端到端交付分别计分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491EE-4FA0-4E75-9576-A9BB8D46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CDECA-E6EC-45A0-8B72-47B89377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723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FF7F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34E1D-33E2-4CA1-83E5-C75356B3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C78DE-8FEB-4940-B5F0-AB0D17EF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36CCE-E973-41CD-B2AE-342A5713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模型理解测试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3720D-C9F2-403E-8E3F-524D8001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事实、单位、否定、纠正、多指标、主次、动作语义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379FC-52F6-41E8-A432-A1FD6930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723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9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23A9B-FEB6-4C80-A31E-BEFF3C51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E0D22-6041-4841-81FD-84847497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678FB-DDD2-47C1-9DE7-0206AB91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623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规则决策测试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036CB-3474-4524-B9CB-D4160B32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输入人工确认的结构化语义，检查组件、能力匹配与四态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BE165-2E3D-4A13-BF8A-A1F37C4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723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C24709-9283-4BB9-9F9B-1B51D0AB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B35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20625-F423-4A7F-AECF-1A3E333D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F70A3-4A7B-498F-8045-8D1C2B57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005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端到端测试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5F9BA1-1C4F-400C-9FDD-7514B789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434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真实模型输出进入同一规则层，统计正确卡、错误卡与合理拒绝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EFAD82-E1BE-46C7-A32C-F8499B5F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24150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8B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2715C0-F5DD-433F-8D6F-556A92CA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962400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8B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DAC762-13A5-4090-8B2C-A0386E64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端到端核心指标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E43AC5-15DB-46F6-9598-C9B3F595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正确出卡率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8D0D6B-60A7-4902-B607-FD36F31B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错误出卡率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D99104-A320-4B5A-9B39-9C95C193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48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合理非 ready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1CD3F3-4151-4F02-B8AA-D5248BB7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最终可交付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BAE1EA-8809-44AC-BC6B-511AC23F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81300"/>
            <a:ext cx="2000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3C46CA-150D-4EFE-AC5E-8C31ED65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505200"/>
            <a:ext cx="2000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6A6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F933C9-6717-4196-BAA9-7EC0C4D5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29100"/>
            <a:ext cx="2000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073CC7-EBF6-477F-8EEE-529D9A5B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53000"/>
            <a:ext cx="2000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35C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9D16D3-9B07-4E35-B8BE-56DC1F0A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448300"/>
            <a:ext cx="3143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75F49A-6135-4AA0-A110-E1A3ADFE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67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不能用同一总分掩盖错误来源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CAD78F-25F1-4DF4-816A-D2AFE9E3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2×2 Card DSL Lab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9147C7-D53D-411D-94A9-A274B4B7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749780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CB0D51-650E-421A-9EC2-16085F2A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F6273-3836-4FCD-A9A2-89144540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rPr>
              <a:t>已经具备运行独立 Qwen 新输入实验的工程条件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D757C-F9C6-496B-89FA-209A76BE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12AF6-F96F-4905-A065-A1AF85CE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180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5D804-0EBF-4E14-872D-604CF727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自动测试通过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BC2E3-812F-4DEA-A337-EDBEB418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rPr>
              <a:t>39 语义/决策 + 6 渲染/API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71178-7470-400B-A00C-4A6DE79B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47850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A7E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A7E85B"/>
                </a:solidFill>
                <a:latin typeface="Microsoft YaHei"/>
                <a:ea typeface="Microsoft YaHei"/>
                <a:cs typeface="Microsoft YaHei"/>
              </a:rPr>
              <a:t>12/12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F9BCA-90F3-4613-91E7-4C277793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本地语义理解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DE7A9-9D92-49CE-BC7F-36133C6B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480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rPr>
              <a:t>校准集，只用于工程自检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00095-536E-4883-A32E-6E1126DC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47850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F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B35C"/>
                </a:solidFill>
                <a:latin typeface="Microsoft YaHei"/>
                <a:ea typeface="Microsoft YaHei"/>
                <a:cs typeface="Microsoft YaHei"/>
              </a:rPr>
              <a:t>12/12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4BA1C-AD84-480A-9DEE-79CE987B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6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规则决策正确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AF773-5D16-431B-AD6D-DD4EC52D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48000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rPr>
              <a:t>8 张正确卡 + 4 个合理非 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EC0F8-8618-4484-94F3-97FF858B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47850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EF6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EF6A6A"/>
                </a:solidFill>
                <a:latin typeface="Microsoft YaHei"/>
                <a:ea typeface="Microsoft YaHei"/>
                <a:cs typeface="Microsoft YaHei"/>
              </a:rPr>
              <a:t>0/12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3053B-F143-4939-9F5B-8FA9E8C9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86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错误出卡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B3ED24-20AE-42B6-9112-5A825A10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480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rPr>
              <a:t>本地校准结果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A3FFA-5BE4-49E8-BED3-F7A5FA44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10363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2C4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4B495C-6EAB-40A7-91CD-D4471DB6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6F215C-D906-4BE5-BABD-79985F71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29150"/>
            <a:ext cx="950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v2 语义接口接通规则层；否定、纠正、负号、长文本边界已修复；独立 12 条输入已冻结并通过预检。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78475C-C022-46C3-9EFA-DB1419DF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19750"/>
            <a:ext cx="3619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35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4C8CC-1596-4CEE-A303-A1BC6C68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6388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rPr>
              <a:t>停在真实 Qwen 调用之前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A3EC1-3212-4EAA-95B5-C709C0A2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rPr>
              <a:t>2×2 Card DSL Lab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5AB27-75E3-40A2-96F2-64080D2D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9B7C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745946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D41FB0-3EA8-4F33-B7DD-76657AEF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结论与下一步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BF213-8040-4DEA-8784-EEACCC32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27A"/>
                </a:solidFill>
                <a:latin typeface="Microsoft YaHei"/>
                <a:ea typeface="Microsoft YaHei"/>
                <a:cs typeface="Microsoft YaHei"/>
              </a:rPr>
              <a:t>当前贡献是可验证的方法框架，下一步才测小模型的真实贡献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4C404-65B3-447E-86BC-AA43BB5D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FCCE8-006C-4118-83B3-EC723777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方法贡献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2562A-E238-4FC0-A772-F80696BF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8676A-0464-4B07-B4BE-D3BFEE9B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SemanticDocument 作为模型与产品规则之间的中间表示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14A29-1AD0-43EF-940A-DCAE0A43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2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FA272-9FD8-49CE-8693-BDB190BA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模型、规则、宿主能力和渲染引擎的职责边界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90816-F80B-4B62-B022-CF76BAD1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BFFAC-0421-4896-BC20-D5B58E48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正确出卡与正确拒绝并重的四态决策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ED3B6-515C-47FB-9886-EFDBCA17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E85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5B1BF8-9C2D-4432-A757-FBA80DA3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3B"/>
                </a:solidFill>
                <a:latin typeface="Microsoft YaHei"/>
                <a:ea typeface="Microsoft YaHei"/>
                <a:cs typeface="Microsoft YaHei"/>
              </a:rPr>
              <a:t>可定位错误来源的分层评测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FB1C29-A857-45AD-818E-B2B677D8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7625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03F66-2553-4D15-8D6E-9758C72F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383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下一项实验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AD4DF-A769-4877-88C8-7CC1C25F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860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7C2D4"/>
                </a:solidFill>
                <a:latin typeface="Microsoft YaHei"/>
                <a:ea typeface="Microsoft YaHei"/>
                <a:cs typeface="Microsoft YaHei"/>
              </a:rPr>
              <a:t>冻结的 12 条独立新输入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8B373-400D-4E34-A570-FF1424A0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Qwen3-8B 输出 SemanticDocument 2.0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4F8EEA-AFB7-4EB0-A7B3-EF5283AC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623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进入同一规则与交付门禁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0CF8C-E934-485A-B9A8-15D8E83A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814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报告理解、决策、错误出卡和可交付指标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08B241-1067-4603-97CA-6BD9FC63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4825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DE8E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BC52B5-B8D2-437F-9986-ECB944EF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673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F6A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F6A6A"/>
                </a:solidFill>
                <a:latin typeface="Microsoft YaHei"/>
                <a:ea typeface="Microsoft YaHei"/>
                <a:cs typeface="Microsoft YaHei"/>
              </a:rPr>
              <a:t>不使用本地回退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63238E-22F9-4CDE-AA3A-A8DEBC3F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10515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FF7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1A59B7-48A8-49D1-BF15-FAB92DCD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435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rPr>
              <a:t>一句话总结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004E53-9870-4F59-8FFD-1B15E0B8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864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426"/>
                </a:solidFill>
                <a:latin typeface="Microsoft YaHei"/>
                <a:ea typeface="Microsoft YaHei"/>
                <a:cs typeface="Microsoft YaHei"/>
              </a:rPr>
              <a:t>小模型负责理解，确定性系统负责把理解变成可信、可执行、可交付的 UI。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25E876-1466-40D6-8AF7-806B6BCB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2×2 Card DSL Lab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0C602C-920C-43FA-89B0-47A114E6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B879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17040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2026-09-07T16:08:22.5560000Z</dcterms:created>
  <dcterms:modified xsi:type="dcterms:W3CDTF">2026-09-07T16:08:22.5560000Z</dcterms:modified>
</coreProperties>
</file>